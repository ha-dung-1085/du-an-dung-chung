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0" r:id="rId5"/>
    <p:sldId id="259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94" autoAdjust="0"/>
    <p:restoredTop sz="94660"/>
  </p:normalViewPr>
  <p:slideViewPr>
    <p:cSldViewPr snapToGrid="0">
      <p:cViewPr>
        <p:scale>
          <a:sx n="100" d="100"/>
          <a:sy n="100" d="100"/>
        </p:scale>
        <p:origin x="85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6C740-2A83-4360-B6FE-DEFA4E74AC51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3D6A17-D0D7-4FC5-8EA5-4197411E7B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19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AADE6-9E92-CE1B-30CA-2D0E4051C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2C631-8ECA-899C-9C0F-24541C52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CA15-DB56-2354-4D37-00586A80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194F4-9798-B91F-EA15-B44ED6E2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79E1-2137-16C2-9A47-57517EE3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8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D6C0-1603-23E5-57F4-4B6ACE0D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18B5-5174-11B3-E445-B2C984EFA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632D-B901-1758-6914-D285249D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AFE79-9643-E53F-4466-611230E4A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7BA71-F0CF-1106-EA37-4F1A97FA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68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0CB0-553B-F50C-3CC1-FA44FB07A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21915-3BE3-4B99-BF34-0EA69590F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7ECD0-700D-24C5-BB6B-51964AF41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63EB8-E92C-3C65-6498-E1E47C59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C7B01-AEA2-6EC3-90F4-6A4592516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18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0E044-597E-E6E4-C76E-B67B6A0D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21A35-890D-2F61-3A03-0D8EBBA09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02DC3-C591-6863-EF15-E54E6BB31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5A5DC-5E08-E391-1B5D-C114FA2E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97FBA-74FA-E577-073E-58032D5C9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72EE2-7C53-5E44-581F-08622F96C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17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94CDF-5934-507C-228F-0AF832AA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289BA-D0CB-2563-CB37-AC5D3C6C0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7FB878-74D4-CC37-447F-70C80BCC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2ADF26-94F5-B77C-4B5A-68DE18023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6A891-031B-15DD-DB37-5972628AF1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845CC5-1BEF-B348-971D-67406A2E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989880-C29F-CCF7-EB9E-8A45BDB3A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07736-CFFC-5221-E4B0-C907F4B2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10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1CAB9-6011-9442-C962-55CD5132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287A5-0BDE-3B7E-BDB7-63ADB000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63FC3-D886-0B8B-8EE0-4F3F8246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3FEBEB-8CCB-B01B-E4F4-DA9D22201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49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2D4F1-7234-C123-D285-0D2D7578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163B3E-1B3E-AE96-EBB0-5D3F319DB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878EC8-FF5C-B54F-6F9C-91E53ECC9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72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FA5EE-C67B-269B-02CD-BE5DC241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FDC5D-EE30-F0D9-1FCC-8E94583C0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C687F-E042-249E-19C3-BED5591AD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2A026-119B-2385-1EDE-E64D681C7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439AE-C21E-F070-2EA6-BB19C6749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37E0A-A05B-6CB4-8402-DB5C0C44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544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C1196-8427-3DCD-3EAE-A1D485D22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8EBBA-4629-2BA1-1274-93E45EA820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36F6C-512A-A503-0EBB-693647155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CE1C4-7F7F-3849-26A3-4A7658A9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99143-71B0-4B55-A7A4-7FDE4182C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E70F5-C923-971D-7DBD-4F826BE75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3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FAA9-3995-7C85-5F3A-B48AC12A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C2958-97D1-6CE9-9C30-8C44A0AB3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8E3B-C630-5431-D632-BC4ED51FE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73F5-7B4E-CD1B-23C7-C11C55EE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CF30D-928E-0004-6A0A-3660C435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90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564F74-E45C-CE99-EC50-165C2A6CB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5C087-143E-F8C5-9F27-502494417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4E9F3-829B-D5FB-F7E4-021B2EF13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17745-A5B5-C5A8-E776-F8EBCAAE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AF72-8F07-D6BB-AFC9-9C844ADC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14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F0201-B570-752F-5B87-7B0C369B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C701E-60E9-9543-98ED-9C8520ECD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1093B-9B7E-C917-C73B-A58C9D1DE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662EB-E3F3-45BF-BA30-6DC41C851B4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70CC-3C6F-0CC6-680D-BBF585FDD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BC9D2-D830-88FB-6C51-22DAE1EEE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14923-BAD5-4BDF-AD5C-08C64FB6B8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2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2F9469-9B84-1999-CF3C-8E5DC922162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23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Samples set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1270CA-D417-1C6D-A3FB-B2792849B6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933732"/>
              </p:ext>
            </p:extLst>
          </p:nvPr>
        </p:nvGraphicFramePr>
        <p:xfrm>
          <a:off x="1828800" y="1229868"/>
          <a:ext cx="9025128" cy="28384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67712">
                  <a:extLst>
                    <a:ext uri="{9D8B030D-6E8A-4147-A177-3AD203B41FA5}">
                      <a16:colId xmlns:a16="http://schemas.microsoft.com/office/drawing/2014/main" val="10800202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3858944501"/>
                    </a:ext>
                  </a:extLst>
                </a:gridCol>
                <a:gridCol w="1240142">
                  <a:extLst>
                    <a:ext uri="{9D8B030D-6E8A-4147-A177-3AD203B41FA5}">
                      <a16:colId xmlns:a16="http://schemas.microsoft.com/office/drawing/2014/main" val="2952734193"/>
                    </a:ext>
                  </a:extLst>
                </a:gridCol>
                <a:gridCol w="2130202">
                  <a:extLst>
                    <a:ext uri="{9D8B030D-6E8A-4147-A177-3AD203B41FA5}">
                      <a16:colId xmlns:a16="http://schemas.microsoft.com/office/drawing/2014/main" val="841289117"/>
                    </a:ext>
                  </a:extLst>
                </a:gridCol>
                <a:gridCol w="2052048">
                  <a:extLst>
                    <a:ext uri="{9D8B030D-6E8A-4147-A177-3AD203B41FA5}">
                      <a16:colId xmlns:a16="http://schemas.microsoft.com/office/drawing/2014/main" val="378330252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Nhóm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HNGH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>
                          <a:effectLst/>
                        </a:rPr>
                        <a:t>HNGK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Đã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chạy</a:t>
                      </a:r>
                      <a:r>
                        <a:rPr lang="en-US" sz="1800" b="1" u="none" strike="noStrike" dirty="0">
                          <a:effectLst/>
                        </a:rPr>
                        <a:t> GW non-BS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u="none" strike="noStrike" dirty="0" err="1">
                          <a:effectLst/>
                        </a:rPr>
                        <a:t>Đã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en-US" sz="1800" b="1" u="none" strike="noStrike" dirty="0" err="1">
                          <a:effectLst/>
                        </a:rPr>
                        <a:t>chạy</a:t>
                      </a:r>
                      <a:r>
                        <a:rPr lang="en-US" sz="1800" b="1" u="none" strike="noStrike" dirty="0">
                          <a:effectLst/>
                        </a:rPr>
                        <a:t> TMD 450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07443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Tổng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193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5406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Healthy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128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4536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Giai đoạn sớm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141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7786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Giai đoạn muộn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9884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Pre-K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356201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Benign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3159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Không nội soi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85982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Khác (di căn, huỷ mẫu)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11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92995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NA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-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189663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3BA7F94-93DE-AA1E-A0B2-6EDB008E0C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3" y="4495646"/>
            <a:ext cx="4818888" cy="211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73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6D45-5568-9C6A-5FD0-AC3463B1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3446"/>
          </a:xfrm>
        </p:spPr>
        <p:txBody>
          <a:bodyPr/>
          <a:lstStyle/>
          <a:p>
            <a:r>
              <a:rPr lang="en-US" dirty="0"/>
              <a:t>Seq QC: Target fraction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F3F20-13B1-EE25-78C2-70E35FFDC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8" y="1235528"/>
            <a:ext cx="2697496" cy="2737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40427A-9F6A-1FAB-0C26-4A5B143F3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795" y="1235529"/>
            <a:ext cx="2717627" cy="27377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9B6A85-B0F1-863B-1A8A-6FCD9633F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493" y="1235528"/>
            <a:ext cx="2717626" cy="27377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CEC5F1-2515-F49F-1EF2-A831644037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5752" y="1235528"/>
            <a:ext cx="2717626" cy="27377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38AFD1-1D18-6FD9-3DE0-BD6465632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228" y="4120243"/>
            <a:ext cx="2697496" cy="27377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8BDDC9-0A15-6FCC-AEBF-D279D50EFF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372" y="4120242"/>
            <a:ext cx="2717628" cy="273775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A358D7-AB0B-E675-CE0E-1E8A732781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0491" y="4120241"/>
            <a:ext cx="2717628" cy="27377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E24B92B-2AB2-8AD6-FC6D-C93F7BC9F9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5749" y="4120240"/>
            <a:ext cx="2717629" cy="27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41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82ED0-AC51-FAC3-21F2-8A63F31FE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4" y="123201"/>
            <a:ext cx="10515600" cy="549408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F96129-0A8E-D967-BE7D-0560BCC834DB}"/>
              </a:ext>
            </a:extLst>
          </p:cNvPr>
          <p:cNvCxnSpPr>
            <a:cxnSpLocks/>
          </p:cNvCxnSpPr>
          <p:nvPr/>
        </p:nvCxnSpPr>
        <p:spPr>
          <a:xfrm>
            <a:off x="1681734" y="4974336"/>
            <a:ext cx="103174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CED9EE3-D5B3-0CF9-FAE4-E7265761E097}"/>
              </a:ext>
            </a:extLst>
          </p:cNvPr>
          <p:cNvSpPr txBox="1"/>
          <p:nvPr/>
        </p:nvSpPr>
        <p:spPr>
          <a:xfrm>
            <a:off x="258318" y="4617720"/>
            <a:ext cx="1112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 genome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1B5171-D3D3-E35D-19AD-11BAAB88F67F}"/>
              </a:ext>
            </a:extLst>
          </p:cNvPr>
          <p:cNvCxnSpPr>
            <a:cxnSpLocks/>
          </p:cNvCxnSpPr>
          <p:nvPr/>
        </p:nvCxnSpPr>
        <p:spPr>
          <a:xfrm>
            <a:off x="2379726" y="4727448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6A0C52-2FB8-E406-8B65-768175099B58}"/>
              </a:ext>
            </a:extLst>
          </p:cNvPr>
          <p:cNvCxnSpPr>
            <a:cxnSpLocks/>
          </p:cNvCxnSpPr>
          <p:nvPr/>
        </p:nvCxnSpPr>
        <p:spPr>
          <a:xfrm>
            <a:off x="2989326" y="4614672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09D8C4-917B-5D9F-A75A-75D7AC41380B}"/>
              </a:ext>
            </a:extLst>
          </p:cNvPr>
          <p:cNvCxnSpPr>
            <a:cxnSpLocks/>
          </p:cNvCxnSpPr>
          <p:nvPr/>
        </p:nvCxnSpPr>
        <p:spPr>
          <a:xfrm>
            <a:off x="2577846" y="4852416"/>
            <a:ext cx="218846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D52EBD-9E7A-CAAE-A80D-26D32AF5B1FF}"/>
              </a:ext>
            </a:extLst>
          </p:cNvPr>
          <p:cNvCxnSpPr>
            <a:cxnSpLocks/>
          </p:cNvCxnSpPr>
          <p:nvPr/>
        </p:nvCxnSpPr>
        <p:spPr>
          <a:xfrm>
            <a:off x="2989326" y="4520184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2F8CA-268F-94D4-F629-43E99466FE18}"/>
              </a:ext>
            </a:extLst>
          </p:cNvPr>
          <p:cNvCxnSpPr>
            <a:cxnSpLocks/>
          </p:cNvCxnSpPr>
          <p:nvPr/>
        </p:nvCxnSpPr>
        <p:spPr>
          <a:xfrm>
            <a:off x="2538222" y="4361688"/>
            <a:ext cx="126796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4C2EB6-5B90-7FD4-3DA4-51DDA3079387}"/>
              </a:ext>
            </a:extLst>
          </p:cNvPr>
          <p:cNvCxnSpPr>
            <a:cxnSpLocks/>
          </p:cNvCxnSpPr>
          <p:nvPr/>
        </p:nvCxnSpPr>
        <p:spPr>
          <a:xfrm>
            <a:off x="6162294" y="4690872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425EC3D-D016-8522-ACDC-88D18A6EA731}"/>
              </a:ext>
            </a:extLst>
          </p:cNvPr>
          <p:cNvCxnSpPr>
            <a:cxnSpLocks/>
          </p:cNvCxnSpPr>
          <p:nvPr/>
        </p:nvCxnSpPr>
        <p:spPr>
          <a:xfrm>
            <a:off x="6771894" y="4578096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7438A2-C3F2-892A-FC93-41C43FCD2228}"/>
              </a:ext>
            </a:extLst>
          </p:cNvPr>
          <p:cNvCxnSpPr>
            <a:cxnSpLocks/>
          </p:cNvCxnSpPr>
          <p:nvPr/>
        </p:nvCxnSpPr>
        <p:spPr>
          <a:xfrm flipV="1">
            <a:off x="6360414" y="4809744"/>
            <a:ext cx="1228344" cy="60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2C1B85-F1F2-DE87-0E22-8010A8F9FEF4}"/>
              </a:ext>
            </a:extLst>
          </p:cNvPr>
          <p:cNvCxnSpPr>
            <a:cxnSpLocks/>
          </p:cNvCxnSpPr>
          <p:nvPr/>
        </p:nvCxnSpPr>
        <p:spPr>
          <a:xfrm>
            <a:off x="6275070" y="4428744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ED08EC-17A8-CE84-5653-67158537CBA1}"/>
              </a:ext>
            </a:extLst>
          </p:cNvPr>
          <p:cNvCxnSpPr>
            <a:cxnSpLocks/>
          </p:cNvCxnSpPr>
          <p:nvPr/>
        </p:nvCxnSpPr>
        <p:spPr>
          <a:xfrm>
            <a:off x="6320790" y="4325112"/>
            <a:ext cx="192709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A1DC3A2-95A7-066B-667C-8AE37A1663A2}"/>
              </a:ext>
            </a:extLst>
          </p:cNvPr>
          <p:cNvCxnSpPr>
            <a:cxnSpLocks/>
          </p:cNvCxnSpPr>
          <p:nvPr/>
        </p:nvCxnSpPr>
        <p:spPr>
          <a:xfrm>
            <a:off x="9496806" y="4684776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C4D185-8D30-6C36-488C-D1FB9951CD8C}"/>
              </a:ext>
            </a:extLst>
          </p:cNvPr>
          <p:cNvCxnSpPr>
            <a:cxnSpLocks/>
          </p:cNvCxnSpPr>
          <p:nvPr/>
        </p:nvCxnSpPr>
        <p:spPr>
          <a:xfrm>
            <a:off x="10106406" y="4572000"/>
            <a:ext cx="93268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B76AC33-B86D-70B6-C8A7-C9701EA3C30F}"/>
              </a:ext>
            </a:extLst>
          </p:cNvPr>
          <p:cNvCxnSpPr>
            <a:cxnSpLocks/>
          </p:cNvCxnSpPr>
          <p:nvPr/>
        </p:nvCxnSpPr>
        <p:spPr>
          <a:xfrm>
            <a:off x="9694926" y="4809744"/>
            <a:ext cx="100584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A884FE6-7F58-6129-D7E1-BA7D249C8D0E}"/>
              </a:ext>
            </a:extLst>
          </p:cNvPr>
          <p:cNvCxnSpPr>
            <a:cxnSpLocks/>
          </p:cNvCxnSpPr>
          <p:nvPr/>
        </p:nvCxnSpPr>
        <p:spPr>
          <a:xfrm>
            <a:off x="10106406" y="4477512"/>
            <a:ext cx="154838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C01A6FE-FB71-213C-25CF-32F4D858F2DC}"/>
              </a:ext>
            </a:extLst>
          </p:cNvPr>
          <p:cNvCxnSpPr>
            <a:cxnSpLocks/>
          </p:cNvCxnSpPr>
          <p:nvPr/>
        </p:nvCxnSpPr>
        <p:spPr>
          <a:xfrm>
            <a:off x="9655302" y="4319016"/>
            <a:ext cx="1045464" cy="6096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D2E5C58-E779-08DD-904E-5703C99CD08F}"/>
              </a:ext>
            </a:extLst>
          </p:cNvPr>
          <p:cNvSpPr txBox="1"/>
          <p:nvPr/>
        </p:nvSpPr>
        <p:spPr>
          <a:xfrm>
            <a:off x="2872740" y="5132833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43B5DA-0ECB-C19C-85D9-8AEA8DCDCAF0}"/>
              </a:ext>
            </a:extLst>
          </p:cNvPr>
          <p:cNvSpPr txBox="1"/>
          <p:nvPr/>
        </p:nvSpPr>
        <p:spPr>
          <a:xfrm>
            <a:off x="6431661" y="5176765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C21772-A3A7-A567-CE34-53F8E5B367B8}"/>
              </a:ext>
            </a:extLst>
          </p:cNvPr>
          <p:cNvSpPr txBox="1"/>
          <p:nvPr/>
        </p:nvSpPr>
        <p:spPr>
          <a:xfrm>
            <a:off x="9990582" y="5170670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3 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A93032-CB83-87C8-9F5C-C27A663224BA}"/>
              </a:ext>
            </a:extLst>
          </p:cNvPr>
          <p:cNvSpPr txBox="1"/>
          <p:nvPr/>
        </p:nvSpPr>
        <p:spPr>
          <a:xfrm>
            <a:off x="3054477" y="3904227"/>
            <a:ext cx="1235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69BE7-75DB-8D4F-4E39-FE20C1A2517E}"/>
              </a:ext>
            </a:extLst>
          </p:cNvPr>
          <p:cNvSpPr txBox="1"/>
          <p:nvPr/>
        </p:nvSpPr>
        <p:spPr>
          <a:xfrm>
            <a:off x="3172205" y="2252076"/>
            <a:ext cx="93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CNA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A036F472-0A5E-33B8-0086-C9569FEE3EC6}"/>
              </a:ext>
            </a:extLst>
          </p:cNvPr>
          <p:cNvSpPr/>
          <p:nvPr/>
        </p:nvSpPr>
        <p:spPr>
          <a:xfrm>
            <a:off x="2215834" y="3592071"/>
            <a:ext cx="2596259" cy="2066280"/>
          </a:xfrm>
          <a:prstGeom prst="arc">
            <a:avLst>
              <a:gd name="adj1" fmla="val 11724623"/>
              <a:gd name="adj2" fmla="val 20468513"/>
            </a:avLst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5483919-DD55-6FE0-2F23-510AF7F38B0B}"/>
              </a:ext>
            </a:extLst>
          </p:cNvPr>
          <p:cNvCxnSpPr>
            <a:cxnSpLocks/>
          </p:cNvCxnSpPr>
          <p:nvPr/>
        </p:nvCxnSpPr>
        <p:spPr>
          <a:xfrm>
            <a:off x="6275070" y="3502152"/>
            <a:ext cx="19728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2D224CE-0265-7E31-EF26-AE77C311E8C5}"/>
              </a:ext>
            </a:extLst>
          </p:cNvPr>
          <p:cNvCxnSpPr>
            <a:cxnSpLocks/>
          </p:cNvCxnSpPr>
          <p:nvPr/>
        </p:nvCxnSpPr>
        <p:spPr>
          <a:xfrm>
            <a:off x="6275070" y="3566160"/>
            <a:ext cx="0" cy="7528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027E539-288E-1961-85B3-48F48E82A976}"/>
              </a:ext>
            </a:extLst>
          </p:cNvPr>
          <p:cNvCxnSpPr>
            <a:cxnSpLocks/>
          </p:cNvCxnSpPr>
          <p:nvPr/>
        </p:nvCxnSpPr>
        <p:spPr>
          <a:xfrm>
            <a:off x="8247888" y="3517131"/>
            <a:ext cx="0" cy="7528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917BE30F-9FC9-7E5B-9480-BBC77871F7DB}"/>
              </a:ext>
            </a:extLst>
          </p:cNvPr>
          <p:cNvSpPr/>
          <p:nvPr/>
        </p:nvSpPr>
        <p:spPr>
          <a:xfrm>
            <a:off x="9496806" y="4151376"/>
            <a:ext cx="360426" cy="30327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2C7C37F-B57C-3765-FD69-A4170C1A680E}"/>
              </a:ext>
            </a:extLst>
          </p:cNvPr>
          <p:cNvCxnSpPr>
            <a:cxnSpLocks/>
          </p:cNvCxnSpPr>
          <p:nvPr/>
        </p:nvCxnSpPr>
        <p:spPr>
          <a:xfrm flipV="1">
            <a:off x="3513963" y="2683367"/>
            <a:ext cx="0" cy="879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2286DA9-A24C-802C-8857-5BD6D13BE783}"/>
              </a:ext>
            </a:extLst>
          </p:cNvPr>
          <p:cNvSpPr txBox="1"/>
          <p:nvPr/>
        </p:nvSpPr>
        <p:spPr>
          <a:xfrm>
            <a:off x="6162294" y="2157013"/>
            <a:ext cx="19545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Fragment length, </a:t>
            </a:r>
            <a:r>
              <a:rPr lang="en-US" dirty="0" err="1"/>
              <a:t>Fragement</a:t>
            </a:r>
            <a:r>
              <a:rPr lang="en-US" dirty="0"/>
              <a:t> ratio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D52F538-4ACE-2846-6FA2-1374A52064BD}"/>
              </a:ext>
            </a:extLst>
          </p:cNvPr>
          <p:cNvCxnSpPr>
            <a:cxnSpLocks/>
            <a:endCxn id="67" idx="2"/>
          </p:cNvCxnSpPr>
          <p:nvPr/>
        </p:nvCxnSpPr>
        <p:spPr>
          <a:xfrm flipV="1">
            <a:off x="7139558" y="2803344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BD44FAB-343E-93BF-4728-9BF0E8537595}"/>
              </a:ext>
            </a:extLst>
          </p:cNvPr>
          <p:cNvSpPr txBox="1"/>
          <p:nvPr/>
        </p:nvSpPr>
        <p:spPr>
          <a:xfrm>
            <a:off x="9013318" y="2187306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motifs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35D22F6B-0A85-9714-662B-F87E0188E891}"/>
              </a:ext>
            </a:extLst>
          </p:cNvPr>
          <p:cNvCxnSpPr>
            <a:cxnSpLocks/>
          </p:cNvCxnSpPr>
          <p:nvPr/>
        </p:nvCxnSpPr>
        <p:spPr>
          <a:xfrm flipV="1">
            <a:off x="9694926" y="2621408"/>
            <a:ext cx="0" cy="140042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5469F97-52FD-96CF-60D8-36CA2A15E02A}"/>
              </a:ext>
            </a:extLst>
          </p:cNvPr>
          <p:cNvCxnSpPr>
            <a:cxnSpLocks/>
          </p:cNvCxnSpPr>
          <p:nvPr/>
        </p:nvCxnSpPr>
        <p:spPr>
          <a:xfrm flipV="1">
            <a:off x="7108316" y="1637329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FDBF7E2-DF86-DAC4-3CDF-5A8F76894A00}"/>
              </a:ext>
            </a:extLst>
          </p:cNvPr>
          <p:cNvCxnSpPr>
            <a:cxnSpLocks/>
          </p:cNvCxnSpPr>
          <p:nvPr/>
        </p:nvCxnSpPr>
        <p:spPr>
          <a:xfrm flipV="1">
            <a:off x="9619106" y="1637329"/>
            <a:ext cx="0" cy="519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5F2C4E9-A0D5-6161-990E-7230DFFF1501}"/>
              </a:ext>
            </a:extLst>
          </p:cNvPr>
          <p:cNvSpPr txBox="1"/>
          <p:nvPr/>
        </p:nvSpPr>
        <p:spPr>
          <a:xfrm>
            <a:off x="8926071" y="1232916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Entropy of EM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2D20DD-C31C-DFB2-6539-55869153C901}"/>
              </a:ext>
            </a:extLst>
          </p:cNvPr>
          <p:cNvSpPr txBox="1"/>
          <p:nvPr/>
        </p:nvSpPr>
        <p:spPr>
          <a:xfrm>
            <a:off x="6260974" y="1230130"/>
            <a:ext cx="1954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Entropy of </a:t>
            </a:r>
            <a:r>
              <a:rPr lang="en-US" dirty="0" err="1"/>
              <a:t>flen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8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E500-AA13-E838-9590-EC59DD404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581"/>
            <a:ext cx="10515600" cy="704723"/>
          </a:xfrm>
        </p:spPr>
        <p:txBody>
          <a:bodyPr/>
          <a:lstStyle/>
          <a:p>
            <a:r>
              <a:rPr lang="en-US" dirty="0"/>
              <a:t>STATS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830ECF-4806-0D73-B167-D1CF35053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254917"/>
              </p:ext>
            </p:extLst>
          </p:nvPr>
        </p:nvGraphicFramePr>
        <p:xfrm>
          <a:off x="667512" y="1483890"/>
          <a:ext cx="11265408" cy="11163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1712">
                  <a:extLst>
                    <a:ext uri="{9D8B030D-6E8A-4147-A177-3AD203B41FA5}">
                      <a16:colId xmlns:a16="http://schemas.microsoft.com/office/drawing/2014/main" val="3397534656"/>
                    </a:ext>
                  </a:extLst>
                </a:gridCol>
                <a:gridCol w="1251712">
                  <a:extLst>
                    <a:ext uri="{9D8B030D-6E8A-4147-A177-3AD203B41FA5}">
                      <a16:colId xmlns:a16="http://schemas.microsoft.com/office/drawing/2014/main" val="2808299943"/>
                    </a:ext>
                  </a:extLst>
                </a:gridCol>
                <a:gridCol w="943864">
                  <a:extLst>
                    <a:ext uri="{9D8B030D-6E8A-4147-A177-3AD203B41FA5}">
                      <a16:colId xmlns:a16="http://schemas.microsoft.com/office/drawing/2014/main" val="194199319"/>
                    </a:ext>
                  </a:extLst>
                </a:gridCol>
                <a:gridCol w="1559560">
                  <a:extLst>
                    <a:ext uri="{9D8B030D-6E8A-4147-A177-3AD203B41FA5}">
                      <a16:colId xmlns:a16="http://schemas.microsoft.com/office/drawing/2014/main" val="3771261994"/>
                    </a:ext>
                  </a:extLst>
                </a:gridCol>
                <a:gridCol w="1659128">
                  <a:extLst>
                    <a:ext uri="{9D8B030D-6E8A-4147-A177-3AD203B41FA5}">
                      <a16:colId xmlns:a16="http://schemas.microsoft.com/office/drawing/2014/main" val="1778176232"/>
                    </a:ext>
                  </a:extLst>
                </a:gridCol>
                <a:gridCol w="844296">
                  <a:extLst>
                    <a:ext uri="{9D8B030D-6E8A-4147-A177-3AD203B41FA5}">
                      <a16:colId xmlns:a16="http://schemas.microsoft.com/office/drawing/2014/main" val="2074509041"/>
                    </a:ext>
                  </a:extLst>
                </a:gridCol>
                <a:gridCol w="1021080">
                  <a:extLst>
                    <a:ext uri="{9D8B030D-6E8A-4147-A177-3AD203B41FA5}">
                      <a16:colId xmlns:a16="http://schemas.microsoft.com/office/drawing/2014/main" val="2550790076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483550319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179700782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Pairs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TM_CNA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TM_RATIO_SHORT_LONG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TM_RATIO_SHORT_TOTAL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TM_flen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TM_EM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ENT_TM_EM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 err="1">
                          <a:effectLst/>
                        </a:rPr>
                        <a:t>ENT_TM_flen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51146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Healthy vs Gastric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51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162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145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128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391712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A2E5F5C-C3F5-B008-2A7D-9E82F7827D34}"/>
              </a:ext>
            </a:extLst>
          </p:cNvPr>
          <p:cNvSpPr txBox="1"/>
          <p:nvPr/>
        </p:nvSpPr>
        <p:spPr>
          <a:xfrm>
            <a:off x="1824228" y="668233"/>
            <a:ext cx="8951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Number of significantly different features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9C8176-8265-4491-1897-656C58DFE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2906281" cy="28913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2DD767-038A-61BC-4AAB-3F8412AB0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568" y="3570559"/>
            <a:ext cx="3118104" cy="2619208"/>
          </a:xfrm>
          <a:prstGeom prst="rect">
            <a:avLst/>
          </a:prstGeom>
        </p:spPr>
      </p:pic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733138C-F1F4-E1F4-2876-5449D1938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986904"/>
              </p:ext>
            </p:extLst>
          </p:nvPr>
        </p:nvGraphicFramePr>
        <p:xfrm>
          <a:off x="7425429" y="4520188"/>
          <a:ext cx="4707624" cy="11068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4604">
                  <a:extLst>
                    <a:ext uri="{9D8B030D-6E8A-4147-A177-3AD203B41FA5}">
                      <a16:colId xmlns:a16="http://schemas.microsoft.com/office/drawing/2014/main" val="3892417718"/>
                    </a:ext>
                  </a:extLst>
                </a:gridCol>
                <a:gridCol w="784604">
                  <a:extLst>
                    <a:ext uri="{9D8B030D-6E8A-4147-A177-3AD203B41FA5}">
                      <a16:colId xmlns:a16="http://schemas.microsoft.com/office/drawing/2014/main" val="1251305700"/>
                    </a:ext>
                  </a:extLst>
                </a:gridCol>
                <a:gridCol w="550666">
                  <a:extLst>
                    <a:ext uri="{9D8B030D-6E8A-4147-A177-3AD203B41FA5}">
                      <a16:colId xmlns:a16="http://schemas.microsoft.com/office/drawing/2014/main" val="1953962911"/>
                    </a:ext>
                  </a:extLst>
                </a:gridCol>
                <a:gridCol w="704088">
                  <a:extLst>
                    <a:ext uri="{9D8B030D-6E8A-4147-A177-3AD203B41FA5}">
                      <a16:colId xmlns:a16="http://schemas.microsoft.com/office/drawing/2014/main" val="94061794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3263129668"/>
                    </a:ext>
                  </a:extLst>
                </a:gridCol>
                <a:gridCol w="1133854">
                  <a:extLst>
                    <a:ext uri="{9D8B030D-6E8A-4147-A177-3AD203B41FA5}">
                      <a16:colId xmlns:a16="http://schemas.microsoft.com/office/drawing/2014/main" val="287046497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chrom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feature_name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CHR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start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end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gene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4899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TMD_373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1.63E+08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1.63E+08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PARK2_QKI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014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TMD_377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351427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351579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PDGFA_FAM20C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5529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TMD_88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62444331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62444643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SCGB1A1_AHNAK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7219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chr17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TMD_186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58328520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58328675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BZRAP1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036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5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8AD4-CAF1-C609-0657-BE11F444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57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Target methylation density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33C13-DF46-57E4-885D-38B8E127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18"/>
          <a:stretch>
            <a:fillRect/>
          </a:stretch>
        </p:blipFill>
        <p:spPr>
          <a:xfrm>
            <a:off x="0" y="1466850"/>
            <a:ext cx="8098190" cy="27119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C23C6E-B71C-3FA8-366B-C0E08DA1116B}"/>
              </a:ext>
            </a:extLst>
          </p:cNvPr>
          <p:cNvSpPr/>
          <p:nvPr/>
        </p:nvSpPr>
        <p:spPr>
          <a:xfrm>
            <a:off x="5998473" y="2065781"/>
            <a:ext cx="100575" cy="22501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646421-D8EC-7674-5F5F-F9618CDF59A2}"/>
              </a:ext>
            </a:extLst>
          </p:cNvPr>
          <p:cNvSpPr/>
          <p:nvPr/>
        </p:nvSpPr>
        <p:spPr>
          <a:xfrm>
            <a:off x="3672849" y="2065782"/>
            <a:ext cx="100584" cy="22501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3A9044-BF6F-BE0B-7E75-8F24F82592C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723141" y="4315968"/>
            <a:ext cx="0" cy="3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E084FAD-6D4B-F743-78C1-4B8DB4046126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6048761" y="4315968"/>
            <a:ext cx="1" cy="329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8E3F78B-92C9-33B6-67D5-6759D54BE5D0}"/>
              </a:ext>
            </a:extLst>
          </p:cNvPr>
          <p:cNvSpPr txBox="1"/>
          <p:nvPr/>
        </p:nvSpPr>
        <p:spPr>
          <a:xfrm>
            <a:off x="5340105" y="4645151"/>
            <a:ext cx="2020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HNGK014 IIIC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B95092-6F7D-5485-24C6-73F747752E5A}"/>
              </a:ext>
            </a:extLst>
          </p:cNvPr>
          <p:cNvSpPr txBox="1"/>
          <p:nvPr/>
        </p:nvSpPr>
        <p:spPr>
          <a:xfrm>
            <a:off x="1965973" y="4591734"/>
            <a:ext cx="311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HNGK054 IIIA with mutation</a:t>
            </a:r>
          </a:p>
          <a:p>
            <a:r>
              <a:rPr lang="en-US" dirty="0"/>
              <a:t>KRAS_G12R C&gt;G (</a:t>
            </a:r>
            <a:r>
              <a:rPr lang="en-US" dirty="0" err="1"/>
              <a:t>vaf</a:t>
            </a:r>
            <a:r>
              <a:rPr lang="en-US" dirty="0"/>
              <a:t> 16.45)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F213D72-1F1E-8945-82A8-B34B4686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487" y="0"/>
            <a:ext cx="4056513" cy="31296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6BEFE2E-716F-347B-E464-671A7EB29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487" y="3496591"/>
            <a:ext cx="1472600" cy="214487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E7EC014-1FC1-99E3-B0B0-39F7A8FC4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7508" y="3496591"/>
            <a:ext cx="2443126" cy="214487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948E754-5C0A-1D7B-B648-6B8B3DABEE76}"/>
              </a:ext>
            </a:extLst>
          </p:cNvPr>
          <p:cNvSpPr/>
          <p:nvPr/>
        </p:nvSpPr>
        <p:spPr>
          <a:xfrm>
            <a:off x="389973" y="3355466"/>
            <a:ext cx="1057829" cy="823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45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0F099-9BEF-9C75-0725-4A52ADEE2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389"/>
            <a:ext cx="11353800" cy="503555"/>
          </a:xfrm>
        </p:spPr>
        <p:txBody>
          <a:bodyPr>
            <a:normAutofit fontScale="90000"/>
          </a:bodyPr>
          <a:lstStyle/>
          <a:p>
            <a:r>
              <a:rPr lang="en-US" dirty="0"/>
              <a:t>Entropy of </a:t>
            </a:r>
            <a:r>
              <a:rPr lang="en-US" b="1" dirty="0"/>
              <a:t>EM</a:t>
            </a:r>
            <a:r>
              <a:rPr lang="en-US" dirty="0"/>
              <a:t> in each region of 450 target regions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8E3527-665B-2187-93B3-344A9AD61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709947"/>
            <a:ext cx="2760502" cy="24904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6573B0-36B9-858D-BD33-CFDE1F3B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9" y="694944"/>
            <a:ext cx="2858020" cy="250545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B41D787-EC6E-3F1D-E9E5-064C4547A18B}"/>
              </a:ext>
            </a:extLst>
          </p:cNvPr>
          <p:cNvSpPr txBox="1">
            <a:spLocks/>
          </p:cNvSpPr>
          <p:nvPr/>
        </p:nvSpPr>
        <p:spPr>
          <a:xfrm>
            <a:off x="838200" y="3215403"/>
            <a:ext cx="11353800" cy="7083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Entropy of</a:t>
            </a:r>
            <a:r>
              <a:rPr lang="en-US" sz="4000" b="1" dirty="0"/>
              <a:t> </a:t>
            </a:r>
            <a:r>
              <a:rPr lang="en-US" sz="4000" b="1" dirty="0" err="1"/>
              <a:t>flen</a:t>
            </a:r>
            <a:r>
              <a:rPr lang="en-US" sz="4000" dirty="0"/>
              <a:t> in each region of 450 target regions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35D126E-D0F3-F886-F3BD-D755647E8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4037068"/>
            <a:ext cx="2922467" cy="254661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178524E-68AA-8FBD-3173-68E1420F5A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598" y="4136674"/>
            <a:ext cx="2808161" cy="2447006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12A5A34-5C70-7452-FC5B-987AE0DB7955}"/>
              </a:ext>
            </a:extLst>
          </p:cNvPr>
          <p:cNvSpPr/>
          <p:nvPr/>
        </p:nvSpPr>
        <p:spPr>
          <a:xfrm>
            <a:off x="2916936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0940BF-F820-7DA7-0120-F21CBD7914F8}"/>
              </a:ext>
            </a:extLst>
          </p:cNvPr>
          <p:cNvSpPr/>
          <p:nvPr/>
        </p:nvSpPr>
        <p:spPr>
          <a:xfrm>
            <a:off x="3471672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2EA236C-FEB2-999E-BAD7-ECBAA0FA09DB}"/>
              </a:ext>
            </a:extLst>
          </p:cNvPr>
          <p:cNvSpPr/>
          <p:nvPr/>
        </p:nvSpPr>
        <p:spPr>
          <a:xfrm>
            <a:off x="3849131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300B8B-B600-4C39-661F-57EA6C62B6BE}"/>
              </a:ext>
            </a:extLst>
          </p:cNvPr>
          <p:cNvSpPr/>
          <p:nvPr/>
        </p:nvSpPr>
        <p:spPr>
          <a:xfrm>
            <a:off x="4750309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D335F-A97B-FABF-97CB-ABBA0823C773}"/>
              </a:ext>
            </a:extLst>
          </p:cNvPr>
          <p:cNvSpPr/>
          <p:nvPr/>
        </p:nvSpPr>
        <p:spPr>
          <a:xfrm>
            <a:off x="4448557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C0004A-C30B-07E4-3F4E-75D431EF8BB1}"/>
              </a:ext>
            </a:extLst>
          </p:cNvPr>
          <p:cNvSpPr/>
          <p:nvPr/>
        </p:nvSpPr>
        <p:spPr>
          <a:xfrm>
            <a:off x="4927630" y="6214872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41ED19-BB0B-39E6-6AF9-F6DE21986C7B}"/>
              </a:ext>
            </a:extLst>
          </p:cNvPr>
          <p:cNvSpPr/>
          <p:nvPr/>
        </p:nvSpPr>
        <p:spPr>
          <a:xfrm>
            <a:off x="7548910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FF4F0-88A9-E768-6C69-B1112880AAF7}"/>
              </a:ext>
            </a:extLst>
          </p:cNvPr>
          <p:cNvSpPr/>
          <p:nvPr/>
        </p:nvSpPr>
        <p:spPr>
          <a:xfrm>
            <a:off x="8062047" y="2843784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D1D469-B03E-535D-9333-B29A513C16BA}"/>
              </a:ext>
            </a:extLst>
          </p:cNvPr>
          <p:cNvSpPr/>
          <p:nvPr/>
        </p:nvSpPr>
        <p:spPr>
          <a:xfrm>
            <a:off x="8537581" y="2843783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12BA6-D00B-EB8C-BB2B-D02D97C390A8}"/>
              </a:ext>
            </a:extLst>
          </p:cNvPr>
          <p:cNvSpPr/>
          <p:nvPr/>
        </p:nvSpPr>
        <p:spPr>
          <a:xfrm>
            <a:off x="8973312" y="2843783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136409-8C39-256E-A046-DB7CEE1E24B9}"/>
              </a:ext>
            </a:extLst>
          </p:cNvPr>
          <p:cNvSpPr/>
          <p:nvPr/>
        </p:nvSpPr>
        <p:spPr>
          <a:xfrm>
            <a:off x="7626096" y="6214871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BD27D4-61F4-97B9-6D93-9CCACE098DA5}"/>
              </a:ext>
            </a:extLst>
          </p:cNvPr>
          <p:cNvSpPr/>
          <p:nvPr/>
        </p:nvSpPr>
        <p:spPr>
          <a:xfrm>
            <a:off x="8043759" y="6214870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1EEADC-4CE8-B57C-C88A-633A36E604A1}"/>
              </a:ext>
            </a:extLst>
          </p:cNvPr>
          <p:cNvSpPr/>
          <p:nvPr/>
        </p:nvSpPr>
        <p:spPr>
          <a:xfrm>
            <a:off x="8525476" y="6214869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544D25-6954-C7B1-FB26-D116F52A8DAA}"/>
              </a:ext>
            </a:extLst>
          </p:cNvPr>
          <p:cNvSpPr/>
          <p:nvPr/>
        </p:nvSpPr>
        <p:spPr>
          <a:xfrm>
            <a:off x="8936565" y="6214869"/>
            <a:ext cx="301752" cy="1586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27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022B-24FF-3C78-B2EB-0A92A0B4F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048D-CE03-9E50-D590-4A8B22583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45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86A2D8-3771-6E36-CCF7-B12D8194B90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2344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Samples set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C070509-72F9-AD10-C806-9DE0A1511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140425"/>
              </p:ext>
            </p:extLst>
          </p:nvPr>
        </p:nvGraphicFramePr>
        <p:xfrm>
          <a:off x="4537496" y="60099"/>
          <a:ext cx="5736563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8590">
                  <a:extLst>
                    <a:ext uri="{9D8B030D-6E8A-4147-A177-3AD203B41FA5}">
                      <a16:colId xmlns:a16="http://schemas.microsoft.com/office/drawing/2014/main" val="3641868587"/>
                    </a:ext>
                  </a:extLst>
                </a:gridCol>
                <a:gridCol w="840317">
                  <a:extLst>
                    <a:ext uri="{9D8B030D-6E8A-4147-A177-3AD203B41FA5}">
                      <a16:colId xmlns:a16="http://schemas.microsoft.com/office/drawing/2014/main" val="548384691"/>
                    </a:ext>
                  </a:extLst>
                </a:gridCol>
                <a:gridCol w="1064402">
                  <a:extLst>
                    <a:ext uri="{9D8B030D-6E8A-4147-A177-3AD203B41FA5}">
                      <a16:colId xmlns:a16="http://schemas.microsoft.com/office/drawing/2014/main" val="1677392434"/>
                    </a:ext>
                  </a:extLst>
                </a:gridCol>
                <a:gridCol w="717071">
                  <a:extLst>
                    <a:ext uri="{9D8B030D-6E8A-4147-A177-3AD203B41FA5}">
                      <a16:colId xmlns:a16="http://schemas.microsoft.com/office/drawing/2014/main" val="148303467"/>
                    </a:ext>
                  </a:extLst>
                </a:gridCol>
                <a:gridCol w="800034">
                  <a:extLst>
                    <a:ext uri="{9D8B030D-6E8A-4147-A177-3AD203B41FA5}">
                      <a16:colId xmlns:a16="http://schemas.microsoft.com/office/drawing/2014/main" val="3591718015"/>
                    </a:ext>
                  </a:extLst>
                </a:gridCol>
                <a:gridCol w="746149">
                  <a:extLst>
                    <a:ext uri="{9D8B030D-6E8A-4147-A177-3AD203B41FA5}">
                      <a16:colId xmlns:a16="http://schemas.microsoft.com/office/drawing/2014/main" val="9560880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Type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Stage Class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Data available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Waiting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Discovery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b="1" u="none" strike="noStrike" dirty="0">
                          <a:effectLst/>
                        </a:rPr>
                        <a:t>Validation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711990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Gastric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Early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140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840876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Gastric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Late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037662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Healthy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105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3054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Gastric_benign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52379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Healthy_khongnoisoi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39854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Gastric_highrisk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 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 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57403924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C0FC372C-863B-6511-E75C-376424434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50" y="1856292"/>
            <a:ext cx="1956999" cy="1978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CFFA7D-79BB-00AD-4FE7-0036A8623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5" y="4491293"/>
            <a:ext cx="1971607" cy="1978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575848-8E33-9911-C3C0-1164C970A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6931" y="1833611"/>
            <a:ext cx="1971607" cy="1978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EB69F4-6F7F-F948-BD16-C2EAF69D5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1160" y="4468612"/>
            <a:ext cx="1956999" cy="1978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964AA80-71A6-DE73-63A9-31F51F94B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9320" y="1794560"/>
            <a:ext cx="1971607" cy="19789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0F9FF2B-587E-F854-F567-F719C0CCC9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477" y="4513974"/>
            <a:ext cx="1971607" cy="1978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797012-85D3-9AAA-EEED-B47ACF8151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84" y="1789142"/>
            <a:ext cx="1971607" cy="1978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23D2C63-1F2E-4B1B-DF42-E3905071244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4070" y="1838810"/>
            <a:ext cx="3567930" cy="15593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CEB06A-B141-60B1-E15B-55B07DF7ED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2889" y="3669741"/>
            <a:ext cx="1620911" cy="277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62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01C478-9991-50C8-1ABD-88775BC3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581"/>
            <a:ext cx="10515600" cy="704723"/>
          </a:xfrm>
        </p:spPr>
        <p:txBody>
          <a:bodyPr/>
          <a:lstStyle/>
          <a:p>
            <a:r>
              <a:rPr lang="en-US" dirty="0"/>
              <a:t>STATS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45AB81-668B-DD59-FC4B-B4D5A3386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279861"/>
              </p:ext>
            </p:extLst>
          </p:nvPr>
        </p:nvGraphicFramePr>
        <p:xfrm>
          <a:off x="165341" y="859304"/>
          <a:ext cx="11861317" cy="994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6557">
                  <a:extLst>
                    <a:ext uri="{9D8B030D-6E8A-4147-A177-3AD203B41FA5}">
                      <a16:colId xmlns:a16="http://schemas.microsoft.com/office/drawing/2014/main" val="1704696253"/>
                    </a:ext>
                  </a:extLst>
                </a:gridCol>
                <a:gridCol w="1076477">
                  <a:extLst>
                    <a:ext uri="{9D8B030D-6E8A-4147-A177-3AD203B41FA5}">
                      <a16:colId xmlns:a16="http://schemas.microsoft.com/office/drawing/2014/main" val="3038822566"/>
                    </a:ext>
                  </a:extLst>
                </a:gridCol>
                <a:gridCol w="1509622">
                  <a:extLst>
                    <a:ext uri="{9D8B030D-6E8A-4147-A177-3AD203B41FA5}">
                      <a16:colId xmlns:a16="http://schemas.microsoft.com/office/drawing/2014/main" val="386867415"/>
                    </a:ext>
                  </a:extLst>
                </a:gridCol>
                <a:gridCol w="1682466">
                  <a:extLst>
                    <a:ext uri="{9D8B030D-6E8A-4147-A177-3AD203B41FA5}">
                      <a16:colId xmlns:a16="http://schemas.microsoft.com/office/drawing/2014/main" val="3574180510"/>
                    </a:ext>
                  </a:extLst>
                </a:gridCol>
                <a:gridCol w="1716342">
                  <a:extLst>
                    <a:ext uri="{9D8B030D-6E8A-4147-A177-3AD203B41FA5}">
                      <a16:colId xmlns:a16="http://schemas.microsoft.com/office/drawing/2014/main" val="1092106009"/>
                    </a:ext>
                  </a:extLst>
                </a:gridCol>
                <a:gridCol w="1095555">
                  <a:extLst>
                    <a:ext uri="{9D8B030D-6E8A-4147-A177-3AD203B41FA5}">
                      <a16:colId xmlns:a16="http://schemas.microsoft.com/office/drawing/2014/main" val="126272142"/>
                    </a:ext>
                  </a:extLst>
                </a:gridCol>
                <a:gridCol w="946704">
                  <a:extLst>
                    <a:ext uri="{9D8B030D-6E8A-4147-A177-3AD203B41FA5}">
                      <a16:colId xmlns:a16="http://schemas.microsoft.com/office/drawing/2014/main" val="3134142332"/>
                    </a:ext>
                  </a:extLst>
                </a:gridCol>
                <a:gridCol w="1208797">
                  <a:extLst>
                    <a:ext uri="{9D8B030D-6E8A-4147-A177-3AD203B41FA5}">
                      <a16:colId xmlns:a16="http://schemas.microsoft.com/office/drawing/2014/main" val="888197268"/>
                    </a:ext>
                  </a:extLst>
                </a:gridCol>
                <a:gridCol w="1208797">
                  <a:extLst>
                    <a:ext uri="{9D8B030D-6E8A-4147-A177-3AD203B41FA5}">
                      <a16:colId xmlns:a16="http://schemas.microsoft.com/office/drawing/2014/main" val="275582479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Pairs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TMD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TM_CNA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TM_RATIO_SHORT_LONG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TM_RATIO_SHORT_TOTAL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 err="1">
                          <a:effectLst/>
                        </a:rPr>
                        <a:t>TM_flen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TM_EM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ENT_TM_EM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ENT_TM_flen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997299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Healthy vs Gastric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74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</a:rPr>
                        <a:t>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</a:rPr>
                        <a:t>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6363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006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7C7990-1101-9ED4-4622-89F7015E7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024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A9FAD-6ACF-E89D-59A8-D5E3DC670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25" y="3822591"/>
            <a:ext cx="3948562" cy="29971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AEB7FA-09E2-3C22-2DFC-B294F8FFA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6846" y="3657459"/>
            <a:ext cx="366712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6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7AF024B-8F53-3BCD-7E5D-9A0C5CED3961}"/>
              </a:ext>
            </a:extLst>
          </p:cNvPr>
          <p:cNvSpPr txBox="1">
            <a:spLocks/>
          </p:cNvSpPr>
          <p:nvPr/>
        </p:nvSpPr>
        <p:spPr>
          <a:xfrm>
            <a:off x="57150" y="943864"/>
            <a:ext cx="11353800" cy="5035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Entropy of </a:t>
            </a:r>
            <a:r>
              <a:rPr lang="en-US" b="1" dirty="0"/>
              <a:t>EM</a:t>
            </a:r>
            <a:r>
              <a:rPr lang="en-US" dirty="0"/>
              <a:t> in each region of 450 target regions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E9DD40-DA3F-6E9F-6A30-5A0F9DABC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2113995"/>
            <a:ext cx="4914900" cy="443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59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351</Words>
  <Application>Microsoft Office PowerPoint</Application>
  <PresentationFormat>Widescreen</PresentationFormat>
  <Paragraphs>182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Seq QC: Target fraction</vt:lpstr>
      <vt:lpstr>Features</vt:lpstr>
      <vt:lpstr>STATS</vt:lpstr>
      <vt:lpstr>Target methylation density</vt:lpstr>
      <vt:lpstr>Entropy of EM in each region of 450 target regions</vt:lpstr>
      <vt:lpstr>PowerPoint Presentation</vt:lpstr>
      <vt:lpstr>PowerPoint Presentation</vt:lpstr>
      <vt:lpstr>STATS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 DAC HO</dc:creator>
  <cp:lastModifiedBy>VO DAC HO</cp:lastModifiedBy>
  <cp:revision>164</cp:revision>
  <dcterms:created xsi:type="dcterms:W3CDTF">2025-06-26T03:28:53Z</dcterms:created>
  <dcterms:modified xsi:type="dcterms:W3CDTF">2026-02-12T05:40:44Z</dcterms:modified>
</cp:coreProperties>
</file>