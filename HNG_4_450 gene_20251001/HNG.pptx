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1" r:id="rId4"/>
    <p:sldId id="260" r:id="rId5"/>
    <p:sldId id="259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2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6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6C740-2A83-4360-B6FE-DEFA4E74AC5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3D6A17-D0D7-4FC5-8EA5-4197411E7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192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AADE6-9E92-CE1B-30CA-2D0E4051CC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C2C631-8ECA-899C-9C0F-24541C522E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FCA15-DB56-2354-4D37-00586A801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62EB-E3F3-45BF-BA30-6DC41C851B45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194F4-9798-B91F-EA15-B44ED6E29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C79E1-2137-16C2-9A47-57517EE33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14923-BAD5-4BDF-AD5C-08C64FB6B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398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ED6C0-1603-23E5-57F4-4B6ACE0DC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918B5-5174-11B3-E445-B2C984EFA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632D-B901-1758-6914-D285249D5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62EB-E3F3-45BF-BA30-6DC41C851B45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AFE79-9643-E53F-4466-611230E4A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7BA71-F0CF-1106-EA37-4F1A97FA5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14923-BAD5-4BDF-AD5C-08C64FB6B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568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70CB0-553B-F50C-3CC1-FA44FB07A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21915-3BE3-4B99-BF34-0EA69590F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7ECD0-700D-24C5-BB6B-51964AF41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62EB-E3F3-45BF-BA30-6DC41C851B45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63EB8-E92C-3C65-6498-E1E47C59A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C7B01-AEA2-6EC3-90F4-6A4592516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14923-BAD5-4BDF-AD5C-08C64FB6B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818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0E044-597E-E6E4-C76E-B67B6A0D6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21A35-890D-2F61-3A03-0D8EBBA09B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F02DC3-C591-6863-EF15-E54E6BB318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65A5DC-5E08-E391-1B5D-C114FA2E4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62EB-E3F3-45BF-BA30-6DC41C851B45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97FBA-74FA-E577-073E-58032D5C9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72EE2-7C53-5E44-581F-08622F96C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14923-BAD5-4BDF-AD5C-08C64FB6B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177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94CDF-5934-507C-228F-0AF832AA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289BA-D0CB-2563-CB37-AC5D3C6C0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7FB878-74D4-CC37-447F-70C80BCCD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2ADF26-94F5-B77C-4B5A-68DE180233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46A891-031B-15DD-DB37-5972628AF1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845CC5-1BEF-B348-971D-67406A2E2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62EB-E3F3-45BF-BA30-6DC41C851B45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989880-C29F-CCF7-EB9E-8A45BDB3A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F07736-CFFC-5221-E4B0-C907F4B2E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14923-BAD5-4BDF-AD5C-08C64FB6B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910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1CAB9-6011-9442-C962-55CD51324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F287A5-0BDE-3B7E-BDB7-63ADB0005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62EB-E3F3-45BF-BA30-6DC41C851B45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363FC3-D886-0B8B-8EE0-4F3F82467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3FEBEB-8CCB-B01B-E4F4-DA9D22201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14923-BAD5-4BDF-AD5C-08C64FB6B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49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52D4F1-7234-C123-D285-0D2D7578B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62EB-E3F3-45BF-BA30-6DC41C851B45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163B3E-1B3E-AE96-EBB0-5D3F319DB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878EC8-FF5C-B54F-6F9C-91E53ECC9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14923-BAD5-4BDF-AD5C-08C64FB6B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572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FA5EE-C67B-269B-02CD-BE5DC2416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FDC5D-EE30-F0D9-1FCC-8E94583C0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5C687F-E042-249E-19C3-BED5591AD6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32A026-119B-2385-1EDE-E64D681C7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62EB-E3F3-45BF-BA30-6DC41C851B45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439AE-C21E-F070-2EA6-BB19C6749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237E0A-A05B-6CB4-8402-DB5C0C445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14923-BAD5-4BDF-AD5C-08C64FB6B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544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C1196-8427-3DCD-3EAE-A1D485D22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F8EBBA-4629-2BA1-1274-93E45EA820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436F6C-512A-A503-0EBB-693647155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5CE1C4-7F7F-3849-26A3-4A7658A98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62EB-E3F3-45BF-BA30-6DC41C851B45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99143-71B0-4B55-A7A4-7FDE4182C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4E70F5-C923-971D-7DBD-4F826BE75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14923-BAD5-4BDF-AD5C-08C64FB6B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933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FAA9-3995-7C85-5F3A-B48AC12AF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FC2958-97D1-6CE9-9C30-8C44A0AB37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08E3B-C630-5431-D632-BC4ED51FE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62EB-E3F3-45BF-BA30-6DC41C851B45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373F5-7B4E-CD1B-23C7-C11C55EE4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CF30D-928E-0004-6A0A-3660C4356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14923-BAD5-4BDF-AD5C-08C64FB6B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790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564F74-E45C-CE99-EC50-165C2A6CB1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5C087-143E-F8C5-9F27-502494417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4E9F3-829B-D5FB-F7E4-021B2EF13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62EB-E3F3-45BF-BA30-6DC41C851B45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17745-A5B5-C5A8-E776-F8EBCAAE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AAF72-8F07-D6BB-AFC9-9C844ADCA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14923-BAD5-4BDF-AD5C-08C64FB6B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514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3F0201-B570-752F-5B87-7B0C369BA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C701E-60E9-9543-98ED-9C8520ECD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1093B-9B7E-C917-C73B-A58C9D1DED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C662EB-E3F3-45BF-BA30-6DC41C851B45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170CC-3C6F-0CC6-680D-BBF585FDD8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BC9D2-D830-88FB-6C51-22DAE1EEE7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014923-BAD5-4BDF-AD5C-08C64FB6B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121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C2F9469-9B84-1999-CF3C-8E5DC922162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2344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Samples set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1270CA-D417-1C6D-A3FB-B2792849B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933732"/>
              </p:ext>
            </p:extLst>
          </p:nvPr>
        </p:nvGraphicFramePr>
        <p:xfrm>
          <a:off x="1828800" y="1229868"/>
          <a:ext cx="9025128" cy="2838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67712">
                  <a:extLst>
                    <a:ext uri="{9D8B030D-6E8A-4147-A177-3AD203B41FA5}">
                      <a16:colId xmlns:a16="http://schemas.microsoft.com/office/drawing/2014/main" val="108002022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3858944501"/>
                    </a:ext>
                  </a:extLst>
                </a:gridCol>
                <a:gridCol w="1240142">
                  <a:extLst>
                    <a:ext uri="{9D8B030D-6E8A-4147-A177-3AD203B41FA5}">
                      <a16:colId xmlns:a16="http://schemas.microsoft.com/office/drawing/2014/main" val="2952734193"/>
                    </a:ext>
                  </a:extLst>
                </a:gridCol>
                <a:gridCol w="2130202">
                  <a:extLst>
                    <a:ext uri="{9D8B030D-6E8A-4147-A177-3AD203B41FA5}">
                      <a16:colId xmlns:a16="http://schemas.microsoft.com/office/drawing/2014/main" val="841289117"/>
                    </a:ext>
                  </a:extLst>
                </a:gridCol>
                <a:gridCol w="2052048">
                  <a:extLst>
                    <a:ext uri="{9D8B030D-6E8A-4147-A177-3AD203B41FA5}">
                      <a16:colId xmlns:a16="http://schemas.microsoft.com/office/drawing/2014/main" val="378330252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 err="1">
                          <a:effectLst/>
                        </a:rPr>
                        <a:t>Nhóm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effectLst/>
                        </a:rPr>
                        <a:t>HNGH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effectLst/>
                        </a:rPr>
                        <a:t>HNGK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 err="1">
                          <a:effectLst/>
                        </a:rPr>
                        <a:t>Đã</a:t>
                      </a:r>
                      <a:r>
                        <a:rPr lang="en-US" sz="1800" b="1" u="none" strike="noStrike" dirty="0">
                          <a:effectLst/>
                        </a:rPr>
                        <a:t> </a:t>
                      </a:r>
                      <a:r>
                        <a:rPr lang="en-US" sz="1800" b="1" u="none" strike="noStrike" dirty="0" err="1">
                          <a:effectLst/>
                        </a:rPr>
                        <a:t>chạy</a:t>
                      </a:r>
                      <a:r>
                        <a:rPr lang="en-US" sz="1800" b="1" u="none" strike="noStrike" dirty="0">
                          <a:effectLst/>
                        </a:rPr>
                        <a:t> GW non-BS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 err="1">
                          <a:effectLst/>
                        </a:rPr>
                        <a:t>Đã</a:t>
                      </a:r>
                      <a:r>
                        <a:rPr lang="en-US" sz="1800" b="1" u="none" strike="noStrike" dirty="0">
                          <a:effectLst/>
                        </a:rPr>
                        <a:t> </a:t>
                      </a:r>
                      <a:r>
                        <a:rPr lang="en-US" sz="1800" b="1" u="none" strike="noStrike" dirty="0" err="1">
                          <a:effectLst/>
                        </a:rPr>
                        <a:t>chạy</a:t>
                      </a:r>
                      <a:r>
                        <a:rPr lang="en-US" sz="1800" b="1" u="none" strike="noStrike" dirty="0">
                          <a:effectLst/>
                        </a:rPr>
                        <a:t> TMD 450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507443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Tổng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141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193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-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115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35406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Healthy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128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-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119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55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245363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Giai đoạn sớm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141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141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54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177863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Giai đoạn muộn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-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21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21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6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398845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Pre-K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-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356201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Benign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-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-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413159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Không nội soi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-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-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085982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Khác (di căn, huỷ mẫu)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-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-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929958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NA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-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-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-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21896632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43BA7F94-93DE-AA1E-A0B2-6EDB008E0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3" y="4495646"/>
            <a:ext cx="4818888" cy="211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673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86D45-5568-9C6A-5FD0-AC3463B16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3446"/>
          </a:xfrm>
        </p:spPr>
        <p:txBody>
          <a:bodyPr/>
          <a:lstStyle/>
          <a:p>
            <a:r>
              <a:rPr lang="en-US" dirty="0"/>
              <a:t>Seq QC: Target fraction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AF3F20-13B1-EE25-78C2-70E35FFDC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28" y="1235528"/>
            <a:ext cx="2697496" cy="27377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40427A-9F6A-1FAB-0C26-4A5B143F3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9795" y="1235529"/>
            <a:ext cx="2717627" cy="27377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9B6A85-B0F1-863B-1A8A-6FCD9633F8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0493" y="1235528"/>
            <a:ext cx="2717626" cy="27377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CEC5F1-2515-F49F-1EF2-A831644037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5752" y="1235528"/>
            <a:ext cx="2717626" cy="27377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38AFD1-1D18-6FD9-3DE0-BD64656325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228" y="4120243"/>
            <a:ext cx="2697496" cy="27377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38BDDC9-0A15-6FCC-AEBF-D279D50EFF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4372" y="4120242"/>
            <a:ext cx="2717628" cy="273775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FA358D7-AB0B-E675-CE0E-1E8A732781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0491" y="4120241"/>
            <a:ext cx="2717628" cy="273775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E24B92B-2AB2-8AD6-FC6D-C93F7BC9F9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85749" y="4120240"/>
            <a:ext cx="2717629" cy="27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241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82ED0-AC51-FAC3-21F2-8A63F31FE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184" y="123201"/>
            <a:ext cx="10515600" cy="549408"/>
          </a:xfrm>
        </p:spPr>
        <p:txBody>
          <a:bodyPr>
            <a:normAutofit fontScale="90000"/>
          </a:bodyPr>
          <a:lstStyle/>
          <a:p>
            <a:r>
              <a:rPr lang="en-US" dirty="0"/>
              <a:t>Features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F96129-0A8E-D967-BE7D-0560BCC834DB}"/>
              </a:ext>
            </a:extLst>
          </p:cNvPr>
          <p:cNvCxnSpPr>
            <a:cxnSpLocks/>
          </p:cNvCxnSpPr>
          <p:nvPr/>
        </p:nvCxnSpPr>
        <p:spPr>
          <a:xfrm>
            <a:off x="1681734" y="4974336"/>
            <a:ext cx="103174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CED9EE3-D5B3-0CF9-FAE4-E7265761E097}"/>
              </a:ext>
            </a:extLst>
          </p:cNvPr>
          <p:cNvSpPr txBox="1"/>
          <p:nvPr/>
        </p:nvSpPr>
        <p:spPr>
          <a:xfrm>
            <a:off x="258318" y="4617720"/>
            <a:ext cx="1112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 genome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D1B5171-D3D3-E35D-19AD-11BAAB88F67F}"/>
              </a:ext>
            </a:extLst>
          </p:cNvPr>
          <p:cNvCxnSpPr>
            <a:cxnSpLocks/>
          </p:cNvCxnSpPr>
          <p:nvPr/>
        </p:nvCxnSpPr>
        <p:spPr>
          <a:xfrm>
            <a:off x="2379726" y="4727448"/>
            <a:ext cx="93268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16A0C52-2FB8-E406-8B65-768175099B58}"/>
              </a:ext>
            </a:extLst>
          </p:cNvPr>
          <p:cNvCxnSpPr>
            <a:cxnSpLocks/>
          </p:cNvCxnSpPr>
          <p:nvPr/>
        </p:nvCxnSpPr>
        <p:spPr>
          <a:xfrm>
            <a:off x="2989326" y="4614672"/>
            <a:ext cx="93268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109D8C4-917B-5D9F-A75A-75D7AC41380B}"/>
              </a:ext>
            </a:extLst>
          </p:cNvPr>
          <p:cNvCxnSpPr>
            <a:cxnSpLocks/>
          </p:cNvCxnSpPr>
          <p:nvPr/>
        </p:nvCxnSpPr>
        <p:spPr>
          <a:xfrm>
            <a:off x="2577846" y="4852416"/>
            <a:ext cx="2188464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D52EBD-9E7A-CAAE-A80D-26D32AF5B1FF}"/>
              </a:ext>
            </a:extLst>
          </p:cNvPr>
          <p:cNvCxnSpPr>
            <a:cxnSpLocks/>
          </p:cNvCxnSpPr>
          <p:nvPr/>
        </p:nvCxnSpPr>
        <p:spPr>
          <a:xfrm>
            <a:off x="2989326" y="4520184"/>
            <a:ext cx="1548384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9A2F8CA-268F-94D4-F629-43E99466FE18}"/>
              </a:ext>
            </a:extLst>
          </p:cNvPr>
          <p:cNvCxnSpPr>
            <a:cxnSpLocks/>
          </p:cNvCxnSpPr>
          <p:nvPr/>
        </p:nvCxnSpPr>
        <p:spPr>
          <a:xfrm>
            <a:off x="2538222" y="4361688"/>
            <a:ext cx="126796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04C2EB6-5B90-7FD4-3DA4-51DDA3079387}"/>
              </a:ext>
            </a:extLst>
          </p:cNvPr>
          <p:cNvCxnSpPr>
            <a:cxnSpLocks/>
          </p:cNvCxnSpPr>
          <p:nvPr/>
        </p:nvCxnSpPr>
        <p:spPr>
          <a:xfrm>
            <a:off x="6162294" y="4690872"/>
            <a:ext cx="93268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425EC3D-D016-8522-ACDC-88D18A6EA731}"/>
              </a:ext>
            </a:extLst>
          </p:cNvPr>
          <p:cNvCxnSpPr>
            <a:cxnSpLocks/>
          </p:cNvCxnSpPr>
          <p:nvPr/>
        </p:nvCxnSpPr>
        <p:spPr>
          <a:xfrm>
            <a:off x="6771894" y="4578096"/>
            <a:ext cx="93268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B7438A2-C3F2-892A-FC93-41C43FCD2228}"/>
              </a:ext>
            </a:extLst>
          </p:cNvPr>
          <p:cNvCxnSpPr>
            <a:cxnSpLocks/>
          </p:cNvCxnSpPr>
          <p:nvPr/>
        </p:nvCxnSpPr>
        <p:spPr>
          <a:xfrm flipV="1">
            <a:off x="6360414" y="4809744"/>
            <a:ext cx="1228344" cy="609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2C1B85-F1F2-DE87-0E22-8010A8F9FEF4}"/>
              </a:ext>
            </a:extLst>
          </p:cNvPr>
          <p:cNvCxnSpPr>
            <a:cxnSpLocks/>
          </p:cNvCxnSpPr>
          <p:nvPr/>
        </p:nvCxnSpPr>
        <p:spPr>
          <a:xfrm>
            <a:off x="6275070" y="4428744"/>
            <a:ext cx="1548384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4ED08EC-17A8-CE84-5653-67158537CBA1}"/>
              </a:ext>
            </a:extLst>
          </p:cNvPr>
          <p:cNvCxnSpPr>
            <a:cxnSpLocks/>
          </p:cNvCxnSpPr>
          <p:nvPr/>
        </p:nvCxnSpPr>
        <p:spPr>
          <a:xfrm>
            <a:off x="6320790" y="4325112"/>
            <a:ext cx="192709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A1DC3A2-95A7-066B-667C-8AE37A1663A2}"/>
              </a:ext>
            </a:extLst>
          </p:cNvPr>
          <p:cNvCxnSpPr>
            <a:cxnSpLocks/>
          </p:cNvCxnSpPr>
          <p:nvPr/>
        </p:nvCxnSpPr>
        <p:spPr>
          <a:xfrm>
            <a:off x="9496806" y="4684776"/>
            <a:ext cx="93268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CC4D185-8D30-6C36-488C-D1FB9951CD8C}"/>
              </a:ext>
            </a:extLst>
          </p:cNvPr>
          <p:cNvCxnSpPr>
            <a:cxnSpLocks/>
          </p:cNvCxnSpPr>
          <p:nvPr/>
        </p:nvCxnSpPr>
        <p:spPr>
          <a:xfrm>
            <a:off x="10106406" y="4572000"/>
            <a:ext cx="93268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B76AC33-B86D-70B6-C8A7-C9701EA3C30F}"/>
              </a:ext>
            </a:extLst>
          </p:cNvPr>
          <p:cNvCxnSpPr>
            <a:cxnSpLocks/>
          </p:cNvCxnSpPr>
          <p:nvPr/>
        </p:nvCxnSpPr>
        <p:spPr>
          <a:xfrm>
            <a:off x="9694926" y="4809744"/>
            <a:ext cx="100584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A884FE6-7F58-6129-D7E1-BA7D249C8D0E}"/>
              </a:ext>
            </a:extLst>
          </p:cNvPr>
          <p:cNvCxnSpPr>
            <a:cxnSpLocks/>
          </p:cNvCxnSpPr>
          <p:nvPr/>
        </p:nvCxnSpPr>
        <p:spPr>
          <a:xfrm>
            <a:off x="10106406" y="4477512"/>
            <a:ext cx="1548384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C01A6FE-FB71-213C-25CF-32F4D858F2DC}"/>
              </a:ext>
            </a:extLst>
          </p:cNvPr>
          <p:cNvCxnSpPr>
            <a:cxnSpLocks/>
          </p:cNvCxnSpPr>
          <p:nvPr/>
        </p:nvCxnSpPr>
        <p:spPr>
          <a:xfrm>
            <a:off x="9655302" y="4319016"/>
            <a:ext cx="1045464" cy="609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D2E5C58-E779-08DD-904E-5703C99CD08F}"/>
              </a:ext>
            </a:extLst>
          </p:cNvPr>
          <p:cNvSpPr txBox="1"/>
          <p:nvPr/>
        </p:nvSpPr>
        <p:spPr>
          <a:xfrm>
            <a:off x="2872740" y="5132833"/>
            <a:ext cx="1235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Target 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43B5DA-0ECB-C19C-85D9-8AEA8DCDCAF0}"/>
              </a:ext>
            </a:extLst>
          </p:cNvPr>
          <p:cNvSpPr txBox="1"/>
          <p:nvPr/>
        </p:nvSpPr>
        <p:spPr>
          <a:xfrm>
            <a:off x="6431661" y="5176765"/>
            <a:ext cx="1235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Target 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CC21772-A3A7-A567-CE34-53F8E5B367B8}"/>
              </a:ext>
            </a:extLst>
          </p:cNvPr>
          <p:cNvSpPr txBox="1"/>
          <p:nvPr/>
        </p:nvSpPr>
        <p:spPr>
          <a:xfrm>
            <a:off x="9990582" y="5170670"/>
            <a:ext cx="1235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Target 3 …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A93032-CB83-87C8-9F5C-C27A663224BA}"/>
              </a:ext>
            </a:extLst>
          </p:cNvPr>
          <p:cNvSpPr txBox="1"/>
          <p:nvPr/>
        </p:nvSpPr>
        <p:spPr>
          <a:xfrm>
            <a:off x="3054477" y="3904227"/>
            <a:ext cx="1235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Reads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9869BE7-75DB-8D4F-4E39-FE20C1A2517E}"/>
              </a:ext>
            </a:extLst>
          </p:cNvPr>
          <p:cNvSpPr txBox="1"/>
          <p:nvPr/>
        </p:nvSpPr>
        <p:spPr>
          <a:xfrm>
            <a:off x="3172205" y="2252076"/>
            <a:ext cx="935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CNA</a:t>
            </a:r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A036F472-0A5E-33B8-0086-C9569FEE3EC6}"/>
              </a:ext>
            </a:extLst>
          </p:cNvPr>
          <p:cNvSpPr/>
          <p:nvPr/>
        </p:nvSpPr>
        <p:spPr>
          <a:xfrm>
            <a:off x="2215834" y="3592071"/>
            <a:ext cx="2596259" cy="2066280"/>
          </a:xfrm>
          <a:prstGeom prst="arc">
            <a:avLst>
              <a:gd name="adj1" fmla="val 11724623"/>
              <a:gd name="adj2" fmla="val 20468513"/>
            </a:avLst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5483919-DD55-6FE0-2F23-510AF7F38B0B}"/>
              </a:ext>
            </a:extLst>
          </p:cNvPr>
          <p:cNvCxnSpPr>
            <a:cxnSpLocks/>
          </p:cNvCxnSpPr>
          <p:nvPr/>
        </p:nvCxnSpPr>
        <p:spPr>
          <a:xfrm>
            <a:off x="6275070" y="3502152"/>
            <a:ext cx="197281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2D224CE-0265-7E31-EF26-AE77C311E8C5}"/>
              </a:ext>
            </a:extLst>
          </p:cNvPr>
          <p:cNvCxnSpPr>
            <a:cxnSpLocks/>
          </p:cNvCxnSpPr>
          <p:nvPr/>
        </p:nvCxnSpPr>
        <p:spPr>
          <a:xfrm>
            <a:off x="6275070" y="3566160"/>
            <a:ext cx="0" cy="75285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027E539-288E-1961-85B3-48F48E82A976}"/>
              </a:ext>
            </a:extLst>
          </p:cNvPr>
          <p:cNvCxnSpPr>
            <a:cxnSpLocks/>
          </p:cNvCxnSpPr>
          <p:nvPr/>
        </p:nvCxnSpPr>
        <p:spPr>
          <a:xfrm>
            <a:off x="8247888" y="3517131"/>
            <a:ext cx="0" cy="75285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917BE30F-9FC9-7E5B-9480-BBC77871F7DB}"/>
              </a:ext>
            </a:extLst>
          </p:cNvPr>
          <p:cNvSpPr/>
          <p:nvPr/>
        </p:nvSpPr>
        <p:spPr>
          <a:xfrm>
            <a:off x="9496806" y="4151376"/>
            <a:ext cx="360426" cy="303276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2C7C37F-B57C-3765-FD69-A4170C1A680E}"/>
              </a:ext>
            </a:extLst>
          </p:cNvPr>
          <p:cNvCxnSpPr>
            <a:cxnSpLocks/>
          </p:cNvCxnSpPr>
          <p:nvPr/>
        </p:nvCxnSpPr>
        <p:spPr>
          <a:xfrm flipV="1">
            <a:off x="3513963" y="2683367"/>
            <a:ext cx="0" cy="879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C2286DA9-A24C-802C-8857-5BD6D13BE783}"/>
              </a:ext>
            </a:extLst>
          </p:cNvPr>
          <p:cNvSpPr txBox="1"/>
          <p:nvPr/>
        </p:nvSpPr>
        <p:spPr>
          <a:xfrm>
            <a:off x="6162294" y="2157013"/>
            <a:ext cx="1954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Fragment length, </a:t>
            </a:r>
            <a:r>
              <a:rPr lang="en-US" dirty="0" err="1"/>
              <a:t>Fragement</a:t>
            </a:r>
            <a:r>
              <a:rPr lang="en-US" dirty="0"/>
              <a:t> ratio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D52F538-4ACE-2846-6FA2-1374A52064BD}"/>
              </a:ext>
            </a:extLst>
          </p:cNvPr>
          <p:cNvCxnSpPr>
            <a:cxnSpLocks/>
            <a:endCxn id="67" idx="2"/>
          </p:cNvCxnSpPr>
          <p:nvPr/>
        </p:nvCxnSpPr>
        <p:spPr>
          <a:xfrm flipV="1">
            <a:off x="7139558" y="2803344"/>
            <a:ext cx="0" cy="5196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DBD44FAB-343E-93BF-4728-9BF0E8537595}"/>
              </a:ext>
            </a:extLst>
          </p:cNvPr>
          <p:cNvSpPr txBox="1"/>
          <p:nvPr/>
        </p:nvSpPr>
        <p:spPr>
          <a:xfrm>
            <a:off x="9013318" y="2187306"/>
            <a:ext cx="1954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End motifs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35D22F6B-0A85-9714-662B-F87E0188E891}"/>
              </a:ext>
            </a:extLst>
          </p:cNvPr>
          <p:cNvCxnSpPr>
            <a:cxnSpLocks/>
          </p:cNvCxnSpPr>
          <p:nvPr/>
        </p:nvCxnSpPr>
        <p:spPr>
          <a:xfrm flipV="1">
            <a:off x="9694926" y="2621408"/>
            <a:ext cx="0" cy="14004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45469F97-52FD-96CF-60D8-36CA2A15E02A}"/>
              </a:ext>
            </a:extLst>
          </p:cNvPr>
          <p:cNvCxnSpPr>
            <a:cxnSpLocks/>
          </p:cNvCxnSpPr>
          <p:nvPr/>
        </p:nvCxnSpPr>
        <p:spPr>
          <a:xfrm flipV="1">
            <a:off x="7108316" y="1637329"/>
            <a:ext cx="0" cy="5196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2FDBF7E2-DF86-DAC4-3CDF-5A8F76894A00}"/>
              </a:ext>
            </a:extLst>
          </p:cNvPr>
          <p:cNvCxnSpPr>
            <a:cxnSpLocks/>
          </p:cNvCxnSpPr>
          <p:nvPr/>
        </p:nvCxnSpPr>
        <p:spPr>
          <a:xfrm flipV="1">
            <a:off x="9619106" y="1637329"/>
            <a:ext cx="0" cy="5196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15F2C4E9-A0D5-6161-990E-7230DFFF1501}"/>
              </a:ext>
            </a:extLst>
          </p:cNvPr>
          <p:cNvSpPr txBox="1"/>
          <p:nvPr/>
        </p:nvSpPr>
        <p:spPr>
          <a:xfrm>
            <a:off x="8926071" y="1232916"/>
            <a:ext cx="1954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Entropy of EM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62D20DD-C31C-DFB2-6539-55869153C901}"/>
              </a:ext>
            </a:extLst>
          </p:cNvPr>
          <p:cNvSpPr txBox="1"/>
          <p:nvPr/>
        </p:nvSpPr>
        <p:spPr>
          <a:xfrm>
            <a:off x="6260974" y="1230130"/>
            <a:ext cx="1954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Entropy of </a:t>
            </a:r>
            <a:r>
              <a:rPr lang="en-US" dirty="0" err="1"/>
              <a:t>flen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286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0E500-AA13-E838-9590-EC59DD404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581"/>
            <a:ext cx="10515600" cy="704723"/>
          </a:xfrm>
        </p:spPr>
        <p:txBody>
          <a:bodyPr/>
          <a:lstStyle/>
          <a:p>
            <a:r>
              <a:rPr lang="en-US" dirty="0"/>
              <a:t>STATS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C830ECF-4806-0D73-B167-D1CF350539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254917"/>
              </p:ext>
            </p:extLst>
          </p:nvPr>
        </p:nvGraphicFramePr>
        <p:xfrm>
          <a:off x="667512" y="1483890"/>
          <a:ext cx="11265408" cy="11163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1712">
                  <a:extLst>
                    <a:ext uri="{9D8B030D-6E8A-4147-A177-3AD203B41FA5}">
                      <a16:colId xmlns:a16="http://schemas.microsoft.com/office/drawing/2014/main" val="3397534656"/>
                    </a:ext>
                  </a:extLst>
                </a:gridCol>
                <a:gridCol w="1251712">
                  <a:extLst>
                    <a:ext uri="{9D8B030D-6E8A-4147-A177-3AD203B41FA5}">
                      <a16:colId xmlns:a16="http://schemas.microsoft.com/office/drawing/2014/main" val="2808299943"/>
                    </a:ext>
                  </a:extLst>
                </a:gridCol>
                <a:gridCol w="943864">
                  <a:extLst>
                    <a:ext uri="{9D8B030D-6E8A-4147-A177-3AD203B41FA5}">
                      <a16:colId xmlns:a16="http://schemas.microsoft.com/office/drawing/2014/main" val="194199319"/>
                    </a:ext>
                  </a:extLst>
                </a:gridCol>
                <a:gridCol w="1559560">
                  <a:extLst>
                    <a:ext uri="{9D8B030D-6E8A-4147-A177-3AD203B41FA5}">
                      <a16:colId xmlns:a16="http://schemas.microsoft.com/office/drawing/2014/main" val="3771261994"/>
                    </a:ext>
                  </a:extLst>
                </a:gridCol>
                <a:gridCol w="1659128">
                  <a:extLst>
                    <a:ext uri="{9D8B030D-6E8A-4147-A177-3AD203B41FA5}">
                      <a16:colId xmlns:a16="http://schemas.microsoft.com/office/drawing/2014/main" val="1778176232"/>
                    </a:ext>
                  </a:extLst>
                </a:gridCol>
                <a:gridCol w="844296">
                  <a:extLst>
                    <a:ext uri="{9D8B030D-6E8A-4147-A177-3AD203B41FA5}">
                      <a16:colId xmlns:a16="http://schemas.microsoft.com/office/drawing/2014/main" val="2074509041"/>
                    </a:ext>
                  </a:extLst>
                </a:gridCol>
                <a:gridCol w="1021080">
                  <a:extLst>
                    <a:ext uri="{9D8B030D-6E8A-4147-A177-3AD203B41FA5}">
                      <a16:colId xmlns:a16="http://schemas.microsoft.com/office/drawing/2014/main" val="2550790076"/>
                    </a:ext>
                  </a:extLst>
                </a:gridCol>
                <a:gridCol w="1271016">
                  <a:extLst>
                    <a:ext uri="{9D8B030D-6E8A-4147-A177-3AD203B41FA5}">
                      <a16:colId xmlns:a16="http://schemas.microsoft.com/office/drawing/2014/main" val="483550319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179700782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Pairs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TMD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TM_CNA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TM_RATIO_SHORT_LONG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TM_RATIO_SHORT_TOTAL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 err="1">
                          <a:effectLst/>
                        </a:rPr>
                        <a:t>TM_flen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TM_EM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ENT_TM_EM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 err="1">
                          <a:effectLst/>
                        </a:rPr>
                        <a:t>ENT_TM_flen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151146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Healthy vs Gastric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51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162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18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3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145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128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0391712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A2E5F5C-C3F5-B008-2A7D-9E82F7827D34}"/>
              </a:ext>
            </a:extLst>
          </p:cNvPr>
          <p:cNvSpPr txBox="1"/>
          <p:nvPr/>
        </p:nvSpPr>
        <p:spPr>
          <a:xfrm>
            <a:off x="1824228" y="668233"/>
            <a:ext cx="89519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Number of significantly different features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B9C8176-8265-4491-1897-656C58DFE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2906281" cy="28913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62DD767-038A-61BC-4AAB-3F8412AB0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2568" y="3570559"/>
            <a:ext cx="3118104" cy="2619208"/>
          </a:xfrm>
          <a:prstGeom prst="rect">
            <a:avLst/>
          </a:prstGeom>
        </p:spPr>
      </p:pic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733138C-F1F4-E1F4-2876-5449D19386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986904"/>
              </p:ext>
            </p:extLst>
          </p:nvPr>
        </p:nvGraphicFramePr>
        <p:xfrm>
          <a:off x="7425429" y="4520188"/>
          <a:ext cx="4707624" cy="11068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4604">
                  <a:extLst>
                    <a:ext uri="{9D8B030D-6E8A-4147-A177-3AD203B41FA5}">
                      <a16:colId xmlns:a16="http://schemas.microsoft.com/office/drawing/2014/main" val="3892417718"/>
                    </a:ext>
                  </a:extLst>
                </a:gridCol>
                <a:gridCol w="784604">
                  <a:extLst>
                    <a:ext uri="{9D8B030D-6E8A-4147-A177-3AD203B41FA5}">
                      <a16:colId xmlns:a16="http://schemas.microsoft.com/office/drawing/2014/main" val="1251305700"/>
                    </a:ext>
                  </a:extLst>
                </a:gridCol>
                <a:gridCol w="550666">
                  <a:extLst>
                    <a:ext uri="{9D8B030D-6E8A-4147-A177-3AD203B41FA5}">
                      <a16:colId xmlns:a16="http://schemas.microsoft.com/office/drawing/2014/main" val="1953962911"/>
                    </a:ext>
                  </a:extLst>
                </a:gridCol>
                <a:gridCol w="704088">
                  <a:extLst>
                    <a:ext uri="{9D8B030D-6E8A-4147-A177-3AD203B41FA5}">
                      <a16:colId xmlns:a16="http://schemas.microsoft.com/office/drawing/2014/main" val="940617942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3263129668"/>
                    </a:ext>
                  </a:extLst>
                </a:gridCol>
                <a:gridCol w="1133854">
                  <a:extLst>
                    <a:ext uri="{9D8B030D-6E8A-4147-A177-3AD203B41FA5}">
                      <a16:colId xmlns:a16="http://schemas.microsoft.com/office/drawing/2014/main" val="287046497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 err="1">
                          <a:effectLst/>
                        </a:rPr>
                        <a:t>chrom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 err="1">
                          <a:effectLst/>
                        </a:rPr>
                        <a:t>feature_name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CHR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start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end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gene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44899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chr6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TMD_373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1.63E+08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1.63E+08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PARK2_QKI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014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chr7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TMD_377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351427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351579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PDGFA_FAM20C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95529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chr11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TMD_88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62444331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62444643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SCGB1A1_AHNAK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7219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chr17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TMD_186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58328520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58328675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BZRAP1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036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557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48AD4-CAF1-C609-0657-BE11F444C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575"/>
            <a:ext cx="10515600" cy="625475"/>
          </a:xfrm>
        </p:spPr>
        <p:txBody>
          <a:bodyPr>
            <a:normAutofit fontScale="90000"/>
          </a:bodyPr>
          <a:lstStyle/>
          <a:p>
            <a:r>
              <a:rPr lang="en-US" dirty="0"/>
              <a:t>Target methylation density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F33C13-DF46-57E4-885D-38B8E1270A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18"/>
          <a:stretch>
            <a:fillRect/>
          </a:stretch>
        </p:blipFill>
        <p:spPr>
          <a:xfrm>
            <a:off x="0" y="1466850"/>
            <a:ext cx="8098190" cy="27119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5C23C6E-B71C-3FA8-366B-C0E08DA1116B}"/>
              </a:ext>
            </a:extLst>
          </p:cNvPr>
          <p:cNvSpPr/>
          <p:nvPr/>
        </p:nvSpPr>
        <p:spPr>
          <a:xfrm>
            <a:off x="5998473" y="2065781"/>
            <a:ext cx="100575" cy="22501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646421-D8EC-7674-5F5F-F9618CDF59A2}"/>
              </a:ext>
            </a:extLst>
          </p:cNvPr>
          <p:cNvSpPr/>
          <p:nvPr/>
        </p:nvSpPr>
        <p:spPr>
          <a:xfrm>
            <a:off x="3672849" y="2065782"/>
            <a:ext cx="100584" cy="22501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33A9044-BF6F-BE0B-7E75-8F24F82592CB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3723141" y="4315968"/>
            <a:ext cx="0" cy="3291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084FAD-6D4B-F743-78C1-4B8DB4046126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48761" y="4315968"/>
            <a:ext cx="1" cy="3291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8E3F78B-92C9-33B6-67D5-6759D54BE5D0}"/>
              </a:ext>
            </a:extLst>
          </p:cNvPr>
          <p:cNvSpPr txBox="1"/>
          <p:nvPr/>
        </p:nvSpPr>
        <p:spPr>
          <a:xfrm>
            <a:off x="5340105" y="4645151"/>
            <a:ext cx="2020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HNGK014 IIIC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B95092-6F7D-5485-24C6-73F747752E5A}"/>
              </a:ext>
            </a:extLst>
          </p:cNvPr>
          <p:cNvSpPr txBox="1"/>
          <p:nvPr/>
        </p:nvSpPr>
        <p:spPr>
          <a:xfrm>
            <a:off x="1965973" y="4591734"/>
            <a:ext cx="3118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HNGK054 IIIA with mutation</a:t>
            </a:r>
          </a:p>
          <a:p>
            <a:r>
              <a:rPr lang="en-US" dirty="0"/>
              <a:t>KRAS_G12R C&gt;G (</a:t>
            </a:r>
            <a:r>
              <a:rPr lang="en-US" dirty="0" err="1"/>
              <a:t>vaf</a:t>
            </a:r>
            <a:r>
              <a:rPr lang="en-US" dirty="0"/>
              <a:t> 16.45)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F213D72-1F1E-8945-82A8-B34B4686C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5487" y="0"/>
            <a:ext cx="4056513" cy="312963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6BEFE2E-716F-347B-E464-671A7EB294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5487" y="3496591"/>
            <a:ext cx="1472600" cy="214487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E7EC014-1FC1-99E3-B0B0-39F7A8FC48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7508" y="3496591"/>
            <a:ext cx="2443126" cy="2144874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4948E754-5C0A-1D7B-B648-6B8B3DABEE76}"/>
              </a:ext>
            </a:extLst>
          </p:cNvPr>
          <p:cNvSpPr/>
          <p:nvPr/>
        </p:nvSpPr>
        <p:spPr>
          <a:xfrm>
            <a:off x="389973" y="3355466"/>
            <a:ext cx="1057829" cy="8233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945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0F099-9BEF-9C75-0725-4A52ADEE2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389"/>
            <a:ext cx="11353800" cy="503555"/>
          </a:xfrm>
        </p:spPr>
        <p:txBody>
          <a:bodyPr>
            <a:normAutofit fontScale="90000"/>
          </a:bodyPr>
          <a:lstStyle/>
          <a:p>
            <a:r>
              <a:rPr lang="en-US" dirty="0"/>
              <a:t>Entropy of </a:t>
            </a:r>
            <a:r>
              <a:rPr lang="en-US" b="1" dirty="0"/>
              <a:t>EM</a:t>
            </a:r>
            <a:r>
              <a:rPr lang="en-US" dirty="0"/>
              <a:t> in each region of 450 target regions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8E3527-665B-2187-93B3-344A9AD61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709947"/>
            <a:ext cx="2760502" cy="24904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6573B0-36B9-858D-BD33-CFDE1F3B8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39" y="694944"/>
            <a:ext cx="2858020" cy="2505456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B41D787-EC6E-3F1D-E9E5-064C4547A18B}"/>
              </a:ext>
            </a:extLst>
          </p:cNvPr>
          <p:cNvSpPr txBox="1">
            <a:spLocks/>
          </p:cNvSpPr>
          <p:nvPr/>
        </p:nvSpPr>
        <p:spPr>
          <a:xfrm>
            <a:off x="838200" y="3215403"/>
            <a:ext cx="11353800" cy="7083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Entropy of</a:t>
            </a:r>
            <a:r>
              <a:rPr lang="en-US" sz="4000" b="1" dirty="0"/>
              <a:t> </a:t>
            </a:r>
            <a:r>
              <a:rPr lang="en-US" sz="4000" b="1" dirty="0" err="1"/>
              <a:t>flen</a:t>
            </a:r>
            <a:r>
              <a:rPr lang="en-US" sz="4000" dirty="0"/>
              <a:t> in each region of 450 target regions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35D126E-D0F3-F886-F3BD-D755647E82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4037068"/>
            <a:ext cx="2922467" cy="25466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178524E-68AA-8FBD-3173-68E1420F5A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1598" y="4136674"/>
            <a:ext cx="2808161" cy="244700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12A5A34-5C70-7452-FC5B-987AE0DB7955}"/>
              </a:ext>
            </a:extLst>
          </p:cNvPr>
          <p:cNvSpPr/>
          <p:nvPr/>
        </p:nvSpPr>
        <p:spPr>
          <a:xfrm>
            <a:off x="2916936" y="2843784"/>
            <a:ext cx="301752" cy="158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0940BF-F820-7DA7-0120-F21CBD7914F8}"/>
              </a:ext>
            </a:extLst>
          </p:cNvPr>
          <p:cNvSpPr/>
          <p:nvPr/>
        </p:nvSpPr>
        <p:spPr>
          <a:xfrm>
            <a:off x="3471672" y="6214872"/>
            <a:ext cx="301752" cy="158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EA236C-FEB2-999E-BAD7-ECBAA0FA09DB}"/>
              </a:ext>
            </a:extLst>
          </p:cNvPr>
          <p:cNvSpPr/>
          <p:nvPr/>
        </p:nvSpPr>
        <p:spPr>
          <a:xfrm>
            <a:off x="3849131" y="2843784"/>
            <a:ext cx="301752" cy="158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300B8B-B600-4C39-661F-57EA6C62B6BE}"/>
              </a:ext>
            </a:extLst>
          </p:cNvPr>
          <p:cNvSpPr/>
          <p:nvPr/>
        </p:nvSpPr>
        <p:spPr>
          <a:xfrm>
            <a:off x="4750309" y="2843784"/>
            <a:ext cx="301752" cy="158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1D335F-A97B-FABF-97CB-ABBA0823C773}"/>
              </a:ext>
            </a:extLst>
          </p:cNvPr>
          <p:cNvSpPr/>
          <p:nvPr/>
        </p:nvSpPr>
        <p:spPr>
          <a:xfrm>
            <a:off x="4448557" y="6214872"/>
            <a:ext cx="301752" cy="158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FC0004A-C30B-07E4-3F4E-75D431EF8BB1}"/>
              </a:ext>
            </a:extLst>
          </p:cNvPr>
          <p:cNvSpPr/>
          <p:nvPr/>
        </p:nvSpPr>
        <p:spPr>
          <a:xfrm>
            <a:off x="4927630" y="6214872"/>
            <a:ext cx="301752" cy="158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41ED19-BB0B-39E6-6AF9-F6DE21986C7B}"/>
              </a:ext>
            </a:extLst>
          </p:cNvPr>
          <p:cNvSpPr/>
          <p:nvPr/>
        </p:nvSpPr>
        <p:spPr>
          <a:xfrm>
            <a:off x="7548910" y="2843784"/>
            <a:ext cx="301752" cy="158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3CFF4F0-88A9-E768-6C69-B1112880AAF7}"/>
              </a:ext>
            </a:extLst>
          </p:cNvPr>
          <p:cNvSpPr/>
          <p:nvPr/>
        </p:nvSpPr>
        <p:spPr>
          <a:xfrm>
            <a:off x="8062047" y="2843784"/>
            <a:ext cx="301752" cy="158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AD1D469-B03E-535D-9333-B29A513C16BA}"/>
              </a:ext>
            </a:extLst>
          </p:cNvPr>
          <p:cNvSpPr/>
          <p:nvPr/>
        </p:nvSpPr>
        <p:spPr>
          <a:xfrm>
            <a:off x="8537581" y="2843783"/>
            <a:ext cx="301752" cy="158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712BA6-D00B-EB8C-BB2B-D02D97C390A8}"/>
              </a:ext>
            </a:extLst>
          </p:cNvPr>
          <p:cNvSpPr/>
          <p:nvPr/>
        </p:nvSpPr>
        <p:spPr>
          <a:xfrm>
            <a:off x="8973312" y="2843783"/>
            <a:ext cx="301752" cy="158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136409-8C39-256E-A046-DB7CEE1E24B9}"/>
              </a:ext>
            </a:extLst>
          </p:cNvPr>
          <p:cNvSpPr/>
          <p:nvPr/>
        </p:nvSpPr>
        <p:spPr>
          <a:xfrm>
            <a:off x="7626096" y="6214871"/>
            <a:ext cx="301752" cy="158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FBD27D4-61F4-97B9-6D93-9CCACE098DA5}"/>
              </a:ext>
            </a:extLst>
          </p:cNvPr>
          <p:cNvSpPr/>
          <p:nvPr/>
        </p:nvSpPr>
        <p:spPr>
          <a:xfrm>
            <a:off x="8043759" y="6214870"/>
            <a:ext cx="301752" cy="158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C1EEADC-4CE8-B57C-C88A-633A36E604A1}"/>
              </a:ext>
            </a:extLst>
          </p:cNvPr>
          <p:cNvSpPr/>
          <p:nvPr/>
        </p:nvSpPr>
        <p:spPr>
          <a:xfrm>
            <a:off x="8525476" y="6214869"/>
            <a:ext cx="301752" cy="158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B544D25-6954-C7B1-FB26-D116F52A8DAA}"/>
              </a:ext>
            </a:extLst>
          </p:cNvPr>
          <p:cNvSpPr/>
          <p:nvPr/>
        </p:nvSpPr>
        <p:spPr>
          <a:xfrm>
            <a:off x="8936565" y="6214869"/>
            <a:ext cx="301752" cy="158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278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242</Words>
  <Application>Microsoft Office PowerPoint</Application>
  <PresentationFormat>Widescreen</PresentationFormat>
  <Paragraphs>119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PowerPoint Presentation</vt:lpstr>
      <vt:lpstr>Seq QC: Target fraction</vt:lpstr>
      <vt:lpstr>Features</vt:lpstr>
      <vt:lpstr>STATS</vt:lpstr>
      <vt:lpstr>Target methylation density</vt:lpstr>
      <vt:lpstr>Entropy of EM in each region of 450 target regions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 DAC HO</dc:creator>
  <cp:lastModifiedBy>VO DAC HO</cp:lastModifiedBy>
  <cp:revision>150</cp:revision>
  <dcterms:created xsi:type="dcterms:W3CDTF">2025-06-26T03:28:53Z</dcterms:created>
  <dcterms:modified xsi:type="dcterms:W3CDTF">2025-09-30T18:42:05Z</dcterms:modified>
</cp:coreProperties>
</file>